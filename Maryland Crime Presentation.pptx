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7" r:id="rId7"/>
    <p:sldId id="269" r:id="rId8"/>
    <p:sldId id="260" r:id="rId9"/>
    <p:sldId id="268" r:id="rId10"/>
    <p:sldId id="261" r:id="rId11"/>
    <p:sldId id="263" r:id="rId12"/>
    <p:sldId id="262" r:id="rId13"/>
    <p:sldId id="264" r:id="rId14"/>
    <p:sldId id="265" r:id="rId15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 snapToGrid="0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422D-6C69-49B6-C89A-9210C2647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36C26-5235-F295-2817-A0934DC4B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10319-95A9-79D5-2741-06CC4B9D7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465CE-8099-2EE1-81AD-D56243559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153D1-ABF5-0672-96A2-723F7A16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758757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418E-3EB2-4B81-1D18-13275621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F25B2-64AB-409D-6EC4-B2A445093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DB17E-7BB6-E96A-6128-0BFB23C57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AD17F-B494-1487-0500-D2457FB5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7DA70-87ED-BEE2-F707-3AEDF19E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03293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0DAB-E3C8-5851-157C-3E730CCDB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20895-BD98-E439-9171-DDA593074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9C444-4B6B-F581-A828-5F224B2A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8F0E4-AE73-9320-FD6D-08C19EBB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6FE0-695C-BC21-DF8D-F4C5947F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021005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9B03-B435-E0E6-4765-7C2E8143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D1C85-5811-E0F5-ABB5-05991A1372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7FC3C-4666-B440-6F52-F688CFEF7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65CE6-579E-3813-D0C4-045D2A0F0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27B59-5AE8-9687-BD3B-CBDB5703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DF51E-FFFC-6B54-7BED-0C2C02E6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7486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7337-4DDF-4CB7-B2BE-6EE6FCF2D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0DE2D-E56B-8D89-4FFF-B9E91F23E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EAD8B-6A32-4B70-6F6B-B6360C05A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4FD8C-9C1D-8EE7-06E6-D5EDD143E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50C5DC-EED2-5996-C3A8-E99B0FE7A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09AF4-88C3-3119-2D8B-AECE5A13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4A026-1BA6-5936-DAF3-84DE3049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74DD73-4A12-B03C-3AC6-63A445ED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3745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9C2C0-0635-9AA4-ED54-90824239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51002-1259-540D-CA69-139C73DA7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1EBC0-4717-4877-168B-FD5A0EE0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B02D5-E674-4FC6-2183-2C141F65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42186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C4CF87-C547-974B-ABFC-FB8D9B29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1BE7A-1314-B366-3731-B96D1D038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67AAA-18FC-D408-BF7D-503BA552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86889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5E64-87E6-B3E0-E7C3-A6D89B73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5BFC0-256B-17BD-B32C-9051BFF5F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205A6-3BE4-4EF2-1F93-178160CD2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85DA6-B840-1A0D-CD0D-611B9297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C0330-7202-A234-24DD-C023CFD4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1CB14-29F2-CE6B-1584-1C168541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8077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CF8E-2496-F606-6FDB-FD79A657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CB8AB-F3A1-702A-D6E0-72461A343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14F68-C347-7028-41EE-64EEE762B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2D7A3-DCBF-BDCB-F69D-65E71E8B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937C4-A358-29C1-B999-C6D2E76F7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3641D-B79C-D9DE-6FA2-4EDC766D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78895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7D2D-50A1-98F4-44F0-0ED1B928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C4756-C3E2-9BF9-B9B2-2FD64ADDF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59964-2E18-66D0-F473-23BF137B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49DA1-4989-5E27-6327-F8C542804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E459-6184-3FA4-78B9-1CECD585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8511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829726-4192-0974-AA71-DCAB17F60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36EF3-5FAD-A289-ACD6-D054B4D23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EBC89-D9B8-F1E6-6F45-45B545A31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D4DA7-B26E-E93B-5A4A-E76445D6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00B3F-E34A-A682-EE70-9550E829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8276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D57BB2-5C0F-3D82-97E5-E40D1507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8A5D4-0A92-95D8-1024-854A36DDB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1808D-BF4C-5995-AD65-AFE8655B2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F4F1E-A36F-874E-B3E6-782EA1F06E1F}" type="datetimeFigureOut">
              <a:rPr lang="en-GH" smtClean="0"/>
              <a:t>31/03/2026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2AEDA-99C3-691B-4AEF-27742A87E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038FA-B09E-B81F-CF2E-9110D8EC4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12321-CF17-9149-9E5A-AB836D5FEA4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693863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CB73-A757-8270-4A6D-5B9356860D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B4CDF-C360-B3A2-286D-A5622000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3796" y="4021256"/>
            <a:ext cx="9405259" cy="2070786"/>
          </a:xfrm>
        </p:spPr>
        <p:txBody>
          <a:bodyPr anchor="ctr">
            <a:normAutofit/>
          </a:bodyPr>
          <a:lstStyle/>
          <a:p>
            <a:r>
              <a:rPr lang="en-GB" sz="3600" dirty="0">
                <a:solidFill>
                  <a:srgbClr val="C58AF9"/>
                </a:solidFill>
                <a:effectLst/>
              </a:rPr>
              <a:t>Maryland Crime Data Analysis (1975 - 2020)</a:t>
            </a:r>
          </a:p>
          <a:p>
            <a:pPr algn="r"/>
            <a:r>
              <a:rPr lang="en-GB" dirty="0"/>
              <a:t>Author: Pascal Obeng-Poku- Data Analyst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F8018-29BE-D4B8-6011-18F535126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852" y="957838"/>
            <a:ext cx="5436296" cy="306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85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89D4-2E2A-925D-7124-C8042587D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291"/>
          </a:xfrm>
        </p:spPr>
        <p:txBody>
          <a:bodyPr>
            <a:normAutofit fontScale="90000"/>
          </a:bodyPr>
          <a:lstStyle/>
          <a:p>
            <a:r>
              <a:rPr lang="en-GB" sz="4000" b="1" i="0" u="none" strike="noStrike" dirty="0">
                <a:effectLst/>
              </a:rPr>
              <a:t>EXECUTIVE SUMMARY</a:t>
            </a:r>
            <a:br>
              <a:rPr lang="en-GB" i="0" u="none" strike="noStrike" dirty="0">
                <a:solidFill>
                  <a:srgbClr val="E6E8F0"/>
                </a:solidFill>
                <a:effectLst/>
                <a:latin typeface="Google Sans"/>
              </a:rPr>
            </a:b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619BA-91E5-349F-FE1B-F2C10371F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2400" b="1" i="0" u="none" strike="noStrike" dirty="0">
                <a:effectLst/>
              </a:rPr>
              <a:t>Objective:</a:t>
            </a:r>
            <a:r>
              <a:rPr lang="en-GB" sz="2400" b="0" i="0" u="none" strike="noStrike" dirty="0">
                <a:effectLst/>
              </a:rPr>
              <a:t> Identify Maryland crime patterns to assist in resource allocation.</a:t>
            </a:r>
          </a:p>
          <a:p>
            <a:pPr marL="0" indent="0" algn="l">
              <a:buNone/>
            </a:pPr>
            <a:endParaRPr lang="en-GB" sz="2400" b="1" i="0" u="none" strike="noStrike" dirty="0">
              <a:effectLst/>
            </a:endParaRPr>
          </a:p>
          <a:p>
            <a:pPr marL="0" indent="0" algn="l">
              <a:buNone/>
            </a:pPr>
            <a:r>
              <a:rPr lang="en-GB" sz="2400" b="1" i="0" u="none" strike="noStrike" dirty="0">
                <a:effectLst/>
              </a:rPr>
              <a:t>Data Health:</a:t>
            </a:r>
            <a:r>
              <a:rPr lang="en-GB" sz="2400" b="0" i="0" u="none" strike="noStrike" dirty="0">
                <a:effectLst/>
              </a:rPr>
              <a:t> High-quality dataset with 1,104 records; minor missing values (approx. 2%) in percent change columns handled via mean-aggregation.</a:t>
            </a:r>
          </a:p>
          <a:p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73241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391B-6B26-57F6-923F-C555D0553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8662"/>
          </a:xfrm>
        </p:spPr>
        <p:txBody>
          <a:bodyPr>
            <a:noAutofit/>
          </a:bodyPr>
          <a:lstStyle/>
          <a:p>
            <a:r>
              <a:rPr lang="en-GB" sz="3600" b="1" i="0" u="none" strike="noStrike" dirty="0">
                <a:effectLst/>
              </a:rPr>
              <a:t>MOST COMMON CRIME TYPES (VOLUME)</a:t>
            </a:r>
            <a:br>
              <a:rPr lang="en-GB" sz="3600" b="1" i="0" u="none" strike="noStrike" dirty="0">
                <a:effectLst/>
              </a:rPr>
            </a:b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BC444-65DB-41E1-251A-A61CD6FB9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665"/>
            <a:ext cx="10665031" cy="466879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u="none" strike="noStrike" dirty="0">
                <a:effectLst/>
              </a:rPr>
              <a:t>Rank 1:</a:t>
            </a:r>
            <a:r>
              <a:rPr lang="en-GB" sz="2400" b="0" i="0" u="none" strike="noStrike" dirty="0">
                <a:effectLst/>
              </a:rPr>
              <a:t> Larceny Theft (~6.1 Million total incidents).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u="none" strike="noStrike" dirty="0">
                <a:effectLst/>
              </a:rPr>
              <a:t>Rank 2:</a:t>
            </a:r>
            <a:r>
              <a:rPr lang="en-GB" sz="2400" b="0" i="0" u="none" strike="noStrike" dirty="0">
                <a:effectLst/>
              </a:rPr>
              <a:t> Burglary/B&amp;E (~2.06 Million).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u="none" strike="noStrike" dirty="0">
                <a:effectLst/>
              </a:rPr>
              <a:t>Rank 3:</a:t>
            </a:r>
            <a:r>
              <a:rPr lang="en-GB" sz="2400" b="0" i="0" u="none" strike="noStrike" dirty="0">
                <a:effectLst/>
              </a:rPr>
              <a:t> Motor Vehicle Theft (~1.1 Million).</a:t>
            </a:r>
          </a:p>
          <a:p>
            <a:pPr marL="0" indent="0" algn="l">
              <a:buNone/>
            </a:pPr>
            <a:endParaRPr lang="en-GB" sz="2400" b="1" i="0" u="none" strike="noStrike" dirty="0">
              <a:effectLst/>
            </a:endParaRPr>
          </a:p>
          <a:p>
            <a:pPr marL="0" indent="0" algn="l">
              <a:buNone/>
            </a:pPr>
            <a:r>
              <a:rPr lang="en-GB" sz="2400" b="1" i="0" u="none" strike="noStrike" dirty="0">
                <a:effectLst/>
              </a:rPr>
              <a:t>Implication:</a:t>
            </a:r>
            <a:r>
              <a:rPr lang="en-GB" sz="2400" b="0" i="0" u="none" strike="noStrike" dirty="0">
                <a:effectLst/>
              </a:rPr>
              <a:t> Property crimes vastly outnumber violent crimes in Maryland, suggesting a need for broad-based community surveillance and theft prevention.</a:t>
            </a:r>
          </a:p>
          <a:p>
            <a:pPr marL="0" indent="0">
              <a:buNone/>
            </a:pP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3326321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B05E-72B4-C79B-B98C-BF533FA33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E86BA-058F-CACD-BC53-7DFA69B40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476B7C-F651-26FE-4485-2C1199D54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348" y="1849582"/>
            <a:ext cx="6543304" cy="315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90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FBB1-22F0-7D44-2DF6-198C344F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i="0" u="none" strike="noStrike" dirty="0">
                <a:effectLst/>
              </a:rPr>
              <a:t>HOTSPOT IDENTIFICATION (2020 DATA)</a:t>
            </a:r>
            <a:br>
              <a:rPr lang="en-GB" sz="3600" b="1" i="0" u="none" strike="noStrike" dirty="0">
                <a:effectLst/>
              </a:rPr>
            </a:b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DE730-E568-BC53-B172-998D886C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018" y="1246909"/>
            <a:ext cx="10688782" cy="4930054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</a:rPr>
              <a:t>By Volume:</a:t>
            </a:r>
            <a:endParaRPr lang="en-GB" b="0" i="0" u="none" strike="noStrike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Baltimore City (28,147)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Baltimore County (20,045)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Prince George's County (19,401)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GB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</a:rPr>
              <a:t>By Rate (per 100k):</a:t>
            </a:r>
            <a:endParaRPr lang="en-GB" b="0" i="0" u="none" strike="noStrike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Baltimore City (4,782.1)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Dorchester County (3,093.7)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</a:rPr>
              <a:t>Worcester County (2,943.0)</a:t>
            </a:r>
          </a:p>
          <a:p>
            <a:pPr marL="0" indent="0" algn="l">
              <a:buNone/>
            </a:pPr>
            <a:endParaRPr lang="en-GB" b="1" dirty="0"/>
          </a:p>
          <a:p>
            <a:pPr marL="0" indent="0" algn="l">
              <a:buNone/>
            </a:pPr>
            <a:r>
              <a:rPr lang="en-GB" b="1" dirty="0"/>
              <a:t>Implication</a:t>
            </a:r>
            <a:r>
              <a:rPr lang="en-GB" b="1" i="0" u="none" strike="noStrike" dirty="0">
                <a:effectLst/>
              </a:rPr>
              <a:t>:</a:t>
            </a:r>
            <a:r>
              <a:rPr lang="en-GB" b="0" i="0" u="none" strike="noStrike" dirty="0">
                <a:effectLst/>
              </a:rPr>
              <a:t> Baltimore City remains the critical priority area, leading in both raw numbers and risk-per-resident.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26167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5447-1BA5-B03C-F574-33F9017F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96F74-243E-A2FB-8BDE-E16D60DA1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D9A25-D282-F7CD-4C7F-7D8CDD552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309" y="1309219"/>
            <a:ext cx="7473381" cy="423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5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0BC0-80B0-6DAA-C1D1-282C681D2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E2E0B-AE4B-E86B-B36E-C86DF44CE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20A49-EF42-D31E-D228-63ACF1312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748" y="1253331"/>
            <a:ext cx="73665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9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839B-11D0-0977-47A7-05C7A6EBA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i="0" u="none" strike="noStrike" dirty="0">
                <a:effectLst/>
              </a:rPr>
              <a:t>POPULATION VS. CRIME RATE</a:t>
            </a:r>
            <a:br>
              <a:rPr lang="en-GB" sz="3600" b="1" i="0" u="none" strike="noStrike" dirty="0">
                <a:effectLst/>
              </a:rPr>
            </a:b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40AC2-ECD8-1279-6A5F-D925DD996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u="none" strike="noStrike" dirty="0">
                <a:effectLst/>
              </a:rPr>
              <a:t>Total Volume:</a:t>
            </a:r>
            <a:r>
              <a:rPr lang="en-GB" sz="2400" b="0" i="0" u="none" strike="noStrike" dirty="0">
                <a:effectLst/>
              </a:rPr>
              <a:t> Strong positive correlation. As expected, more people = more crime.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400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u="none" strike="noStrike" dirty="0">
                <a:effectLst/>
              </a:rPr>
              <a:t>Crime Rate:</a:t>
            </a:r>
            <a:r>
              <a:rPr lang="en-GB" sz="2400" b="0" i="0" u="none" strike="noStrike" dirty="0">
                <a:effectLst/>
              </a:rPr>
              <a:t> The smaller jurisdictions like Worcester and Dorchester have higher "danger levels" per person than many high-population suburban counties.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400" b="0" i="0" u="none" strike="noStrike" dirty="0">
              <a:effectLst/>
            </a:endParaRPr>
          </a:p>
          <a:p>
            <a:pPr marL="0" indent="0" algn="l">
              <a:buNone/>
            </a:pPr>
            <a:r>
              <a:rPr lang="en-GB" sz="2400" b="1" dirty="0"/>
              <a:t>Implication</a:t>
            </a:r>
            <a:r>
              <a:rPr lang="en-GB" sz="2400" b="1" i="0" u="none" strike="noStrike" dirty="0">
                <a:effectLst/>
              </a:rPr>
              <a:t>:</a:t>
            </a:r>
            <a:r>
              <a:rPr lang="en-GB" sz="2400" b="0" i="0" u="none" strike="noStrike" dirty="0">
                <a:effectLst/>
              </a:rPr>
              <a:t> Policing resources should not just follow population; they must address high-rate rural and seasonal zones.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963787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A1F2-7D71-D193-EB6A-A9130D06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2A671-63E8-1D58-BA15-289B081ED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8A49B-9511-ECF2-1B16-314886AE5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117" y="1593448"/>
            <a:ext cx="7817766" cy="367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0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8B97-7D95-F698-17AB-6C32D949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3031"/>
          </a:xfrm>
        </p:spPr>
        <p:txBody>
          <a:bodyPr>
            <a:normAutofit/>
          </a:bodyPr>
          <a:lstStyle/>
          <a:p>
            <a:r>
              <a:rPr lang="en-GH" sz="3600" b="1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23F6D-62F8-1B4B-1ED9-02B7A5E90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642" y="1223158"/>
            <a:ext cx="10748158" cy="4953805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effectLst/>
              </a:rPr>
              <a:t>Strategic Resource Allocation (The "80/20" Rule)</a:t>
            </a:r>
          </a:p>
          <a:p>
            <a:pPr marL="0" indent="0" algn="l">
              <a:buNone/>
            </a:pPr>
            <a:endParaRPr lang="en-GB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</a:rPr>
              <a:t>Tier 1 Priority (Volume-Based):</a:t>
            </a:r>
            <a:r>
              <a:rPr lang="en-GB" b="0" i="0" u="none" strike="noStrike" dirty="0">
                <a:effectLst/>
              </a:rPr>
              <a:t> Since the "Big Five" (Baltimore City, Prince George's, Baltimore County, Montgomery, and Anne Arundel) account for over 75% of all incidents, the state should maintain a </a:t>
            </a:r>
            <a:r>
              <a:rPr lang="en-GB" b="1" i="0" u="none" strike="noStrike" dirty="0">
                <a:effectLst/>
              </a:rPr>
              <a:t>centralized Resource Hub</a:t>
            </a:r>
            <a:r>
              <a:rPr lang="en-GB" b="0" i="0" u="none" strike="noStrike" dirty="0">
                <a:effectLst/>
              </a:rPr>
              <a:t>. This hub would provide specialized forensics and investigative support that smaller counties cannot afford.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</a:rPr>
              <a:t>Tier 2 Priority (Rate-Based):</a:t>
            </a:r>
            <a:r>
              <a:rPr lang="en-GB" b="0" i="0" u="none" strike="noStrike" dirty="0">
                <a:effectLst/>
              </a:rPr>
              <a:t> High-rate rural areas like </a:t>
            </a:r>
            <a:r>
              <a:rPr lang="en-GB" b="1" i="0" u="none" strike="noStrike" dirty="0">
                <a:effectLst/>
              </a:rPr>
              <a:t>Dorchester</a:t>
            </a:r>
            <a:r>
              <a:rPr lang="en-GB" b="0" i="0" u="none" strike="noStrike" dirty="0">
                <a:effectLst/>
              </a:rPr>
              <a:t> and </a:t>
            </a:r>
            <a:r>
              <a:rPr lang="en-GB" b="1" i="0" u="none" strike="noStrike" dirty="0">
                <a:effectLst/>
              </a:rPr>
              <a:t>Allegany</a:t>
            </a:r>
            <a:r>
              <a:rPr lang="en-GB" b="0" i="0" u="none" strike="noStrike" dirty="0">
                <a:effectLst/>
              </a:rPr>
              <a:t>(Cumberland) require targeted </a:t>
            </a:r>
            <a:r>
              <a:rPr lang="en-GB" b="1" i="0" u="none" strike="noStrike" dirty="0">
                <a:effectLst/>
              </a:rPr>
              <a:t>Socio-Economic Intervention</a:t>
            </a:r>
            <a:r>
              <a:rPr lang="en-GB" b="0" i="0" u="none" strike="noStrike" dirty="0">
                <a:effectLst/>
              </a:rPr>
              <a:t>. High crime rates in these lower-population areas are often symptoms of the opioid crisis or unemployment; resources here should shift toward "Community-Oriented Policing" and addiction recovery services rather than just "boots on the ground."</a:t>
            </a:r>
          </a:p>
          <a:p>
            <a:pPr marL="0" indent="0">
              <a:buNone/>
            </a:pPr>
            <a:br>
              <a:rPr lang="en-GB" dirty="0"/>
            </a:b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11696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A2BF8-CBF4-451D-00EE-ED8672B74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8028"/>
          </a:xfrm>
        </p:spPr>
        <p:txBody>
          <a:bodyPr>
            <a:normAutofit/>
          </a:bodyPr>
          <a:lstStyle/>
          <a:p>
            <a:r>
              <a:rPr lang="en-GH" sz="3600" b="1" dirty="0"/>
              <a:t>RECOMMENDATION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5D9CA-9E16-D2A6-EE84-3243785D7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138" y="1033154"/>
            <a:ext cx="11079678" cy="534389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2400" b="1" i="0" u="none" strike="noStrike" dirty="0">
                <a:effectLst/>
              </a:rPr>
              <a:t>Specialized Crime Task Forces</a:t>
            </a:r>
          </a:p>
          <a:p>
            <a:pPr marL="0" indent="0" algn="l">
              <a:buNone/>
            </a:pPr>
            <a:endParaRPr lang="en-GB" sz="240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u="none" strike="noStrike" dirty="0">
                <a:effectLst/>
              </a:rPr>
              <a:t>Larceny &amp; Property Crime Initiative:</a:t>
            </a:r>
            <a:r>
              <a:rPr lang="en-GB" sz="2400" b="0" i="0" u="none" strike="noStrike" dirty="0">
                <a:effectLst/>
              </a:rPr>
              <a:t> As </a:t>
            </a:r>
            <a:r>
              <a:rPr lang="en-GB" sz="2400" b="1" i="0" u="none" strike="noStrike" dirty="0">
                <a:effectLst/>
              </a:rPr>
              <a:t>Larceny Theft</a:t>
            </a:r>
            <a:r>
              <a:rPr lang="en-GB" sz="2400" b="0" i="0" u="none" strike="noStrike" dirty="0">
                <a:effectLst/>
              </a:rPr>
              <a:t> is the number 1 crime by a massive margin (over 6 million incidents), Maryland should implement a statewide </a:t>
            </a:r>
            <a:r>
              <a:rPr lang="en-GB" sz="2400" b="1" i="0" u="none" strike="noStrike" dirty="0">
                <a:effectLst/>
              </a:rPr>
              <a:t>Retail &amp; Auto Theft Task Force</a:t>
            </a:r>
            <a:r>
              <a:rPr lang="en-GB" sz="2400" b="0" i="0" u="none" strike="noStrike" dirty="0">
                <a:effectLst/>
              </a:rPr>
              <a:t>. This includes promoting GPS-tracking for high-value items and improving lighting/surveillance in high-volume shopping districts in Montgomery and Anne Arundel counties.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400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u="none" strike="noStrike" dirty="0">
                <a:effectLst/>
              </a:rPr>
              <a:t>Seasonal "Pop-Up" Policing:</a:t>
            </a:r>
            <a:r>
              <a:rPr lang="en-GB" sz="2400" b="0" i="0" u="none" strike="noStrike" dirty="0">
                <a:effectLst/>
              </a:rPr>
              <a:t> For </a:t>
            </a:r>
            <a:r>
              <a:rPr lang="en-GB" sz="2400" b="1" i="0" u="none" strike="noStrike" dirty="0">
                <a:effectLst/>
              </a:rPr>
              <a:t>Worcester County</a:t>
            </a:r>
            <a:r>
              <a:rPr lang="en-GB" sz="2400" b="0" i="0" u="none" strike="noStrike" dirty="0">
                <a:effectLst/>
              </a:rPr>
              <a:t>, the state should provide </a:t>
            </a:r>
            <a:r>
              <a:rPr lang="en-GB" sz="2400" b="1" i="0" u="none" strike="noStrike" dirty="0">
                <a:effectLst/>
              </a:rPr>
              <a:t>Temporary Duty (TDY) Officers</a:t>
            </a:r>
            <a:r>
              <a:rPr lang="en-GB" sz="2400" b="0" i="0" u="none" strike="noStrike" dirty="0">
                <a:effectLst/>
              </a:rPr>
              <a:t> during the summer months (May–September) to handle the tourism influx without overtaxing the small local permanent police force.</a:t>
            </a:r>
          </a:p>
          <a:p>
            <a:pPr marL="0" indent="0" algn="l">
              <a:buNone/>
            </a:pPr>
            <a:endParaRPr lang="en-GB" b="0" i="0" u="none" strike="noStrike" dirty="0">
              <a:effectLst/>
            </a:endParaRP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935634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1E4D-5E62-3A45-3537-A4C24034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909"/>
          </a:xfrm>
        </p:spPr>
        <p:txBody>
          <a:bodyPr>
            <a:normAutofit/>
          </a:bodyPr>
          <a:lstStyle/>
          <a:p>
            <a:r>
              <a:rPr lang="en-GH" sz="3600" b="1" dirty="0"/>
              <a:t>RECOMMENDATION 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52EB7-FA38-E127-D9CA-F09E33560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395" y="1104405"/>
            <a:ext cx="10865922" cy="50725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2400" b="1" i="0" u="none" strike="noStrike" dirty="0">
                <a:effectLst/>
                <a:latin typeface="Google Sans"/>
              </a:rPr>
              <a:t>Data-Driven Policy Improvements</a:t>
            </a:r>
          </a:p>
          <a:p>
            <a:pPr algn="l"/>
            <a:endParaRPr lang="en-GB" sz="2400" i="0" u="none" strike="noStrike" dirty="0"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u="none" strike="noStrike" dirty="0">
                <a:effectLst/>
                <a:latin typeface="Google Sans"/>
              </a:rPr>
              <a:t>Addressing Volatility:</a:t>
            </a:r>
            <a:r>
              <a:rPr lang="en-GB" sz="2400" b="0" i="0" u="none" strike="noStrike" dirty="0">
                <a:effectLst/>
                <a:latin typeface="Google Sans"/>
              </a:rPr>
              <a:t> "Rate Percent Change" volatility in categories like </a:t>
            </a:r>
            <a:r>
              <a:rPr lang="en-GB" sz="2400" b="1" i="0" u="none" strike="noStrike" dirty="0">
                <a:effectLst/>
                <a:latin typeface="Google Sans"/>
              </a:rPr>
              <a:t>Murder</a:t>
            </a:r>
            <a:r>
              <a:rPr lang="en-GB" sz="2400" b="0" i="0" u="none" strike="noStrike" dirty="0">
                <a:effectLst/>
                <a:latin typeface="Google Sans"/>
              </a:rPr>
              <a:t>. Because a single incident in a small county can cause a 100% spike, the state should use a </a:t>
            </a:r>
            <a:r>
              <a:rPr lang="en-GB" sz="2400" b="1" i="0" u="none" strike="noStrike" dirty="0">
                <a:effectLst/>
                <a:latin typeface="Google Sans"/>
              </a:rPr>
              <a:t>3-Year Rolling Average</a:t>
            </a:r>
            <a:r>
              <a:rPr lang="en-GB" sz="2400" b="0" i="0" u="none" strike="noStrike" dirty="0">
                <a:effectLst/>
                <a:latin typeface="Google Sans"/>
              </a:rPr>
              <a:t> for funding decisions rather than single-year data to avoid "knee-jerk" budget reactions.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400" b="0" i="0" u="none" strike="noStrike" dirty="0"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u="none" strike="noStrike" dirty="0">
                <a:effectLst/>
                <a:latin typeface="Google Sans"/>
              </a:rPr>
              <a:t>Multicollinearity Monitoring:</a:t>
            </a:r>
            <a:r>
              <a:rPr lang="en-GB" sz="2400" b="0" i="0" u="none" strike="noStrike" dirty="0">
                <a:effectLst/>
                <a:latin typeface="Google Sans"/>
              </a:rPr>
              <a:t> Since population and total crime are so highly correlated (r &gt; 0.9), future models should focus on </a:t>
            </a:r>
            <a:r>
              <a:rPr lang="en-GB" sz="2400" b="1" i="0" u="none" strike="noStrike" dirty="0">
                <a:effectLst/>
                <a:latin typeface="Google Sans"/>
              </a:rPr>
              <a:t>Residual Analysis</a:t>
            </a:r>
            <a:r>
              <a:rPr lang="en-GB" sz="2400" b="0" i="0" u="none" strike="noStrike" dirty="0">
                <a:effectLst/>
                <a:latin typeface="Google Sans"/>
              </a:rPr>
              <a:t>—looking at jurisdictions that have </a:t>
            </a:r>
            <a:r>
              <a:rPr lang="en-GB" sz="2400" b="0" i="1" u="none" strike="noStrike" dirty="0">
                <a:effectLst/>
                <a:latin typeface="Google Sans"/>
              </a:rPr>
              <a:t>more</a:t>
            </a:r>
            <a:r>
              <a:rPr lang="en-GB" sz="2400" b="0" i="0" u="none" strike="noStrike" dirty="0">
                <a:effectLst/>
                <a:latin typeface="Google Sans"/>
              </a:rPr>
              <a:t> or </a:t>
            </a:r>
            <a:r>
              <a:rPr lang="en-GB" sz="2400" b="0" i="1" u="none" strike="noStrike" dirty="0">
                <a:effectLst/>
                <a:latin typeface="Google Sans"/>
              </a:rPr>
              <a:t>less</a:t>
            </a:r>
            <a:r>
              <a:rPr lang="en-GB" sz="2400" b="0" i="0" u="none" strike="noStrike" dirty="0">
                <a:effectLst/>
                <a:latin typeface="Google Sans"/>
              </a:rPr>
              <a:t> crime than their population would predict. Areas with "Negative Residuals" (less crime than expected) should be studied as "Success Models" for the rest of the state.</a:t>
            </a:r>
          </a:p>
          <a:p>
            <a:pPr marL="0" indent="0">
              <a:buNone/>
            </a:pP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2505429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CC31E-BDD8-DE50-190C-B854AED97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537"/>
          </a:xfrm>
        </p:spPr>
        <p:txBody>
          <a:bodyPr>
            <a:normAutofit/>
          </a:bodyPr>
          <a:lstStyle/>
          <a:p>
            <a:r>
              <a:rPr lang="en-GH" sz="3600" b="1" dirty="0"/>
              <a:t>RECOMMENDATION IV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A0723-456B-38BE-056E-A84987B6B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444" y="1493116"/>
            <a:ext cx="10515600" cy="4351338"/>
          </a:xfrm>
        </p:spPr>
        <p:txBody>
          <a:bodyPr/>
          <a:lstStyle/>
          <a:p>
            <a:pPr marL="0" indent="0" algn="l">
              <a:buNone/>
            </a:pPr>
            <a:r>
              <a:rPr lang="en-GB" b="1" i="0" u="none" strike="noStrike" dirty="0">
                <a:effectLst/>
              </a:rPr>
              <a:t>Public Safety Technology</a:t>
            </a:r>
          </a:p>
          <a:p>
            <a:pPr marL="0" indent="0" algn="l">
              <a:buNone/>
            </a:pPr>
            <a:endParaRPr lang="en-GB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</a:rPr>
              <a:t>Modernization of Reporting:</a:t>
            </a:r>
            <a:r>
              <a:rPr lang="en-GB" b="0" i="0" u="none" strike="noStrike" dirty="0">
                <a:effectLst/>
              </a:rPr>
              <a:t> Given the 1,104 entries across decades, Maryland should move toward </a:t>
            </a:r>
            <a:r>
              <a:rPr lang="en-GB" b="1" i="0" u="none" strike="noStrike" dirty="0">
                <a:effectLst/>
              </a:rPr>
              <a:t>Real-Time Dashboarding</a:t>
            </a:r>
            <a:r>
              <a:rPr lang="en-GB" b="0" i="0" u="none" strike="noStrike" dirty="0">
                <a:effectLst/>
              </a:rPr>
              <a:t>. Providing the public with the "Rate per 100k" (as you calculated) instead of just "Total Counts" will help residents have a more accurate understanding of their actual safety risk.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99723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A865-E37A-BDFA-2F38-43703611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4D287-EA9E-2D51-374B-879305B5C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H" dirty="0"/>
          </a:p>
          <a:p>
            <a:pPr marL="0" indent="0" algn="ctr">
              <a:buNone/>
            </a:pPr>
            <a:endParaRPr lang="en-GH" dirty="0"/>
          </a:p>
          <a:p>
            <a:pPr marL="0" indent="0" algn="ctr">
              <a:buNone/>
            </a:pPr>
            <a:r>
              <a:rPr lang="en-GH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2492540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675</Words>
  <Application>Microsoft Macintosh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Google Sans</vt:lpstr>
      <vt:lpstr>Office Theme</vt:lpstr>
      <vt:lpstr>PowerPoint Presentation</vt:lpstr>
      <vt:lpstr>EXECUTIVE SUMMARY </vt:lpstr>
      <vt:lpstr>MOST COMMON CRIME TYPES (VOLUME) </vt:lpstr>
      <vt:lpstr>PowerPoint Presentation</vt:lpstr>
      <vt:lpstr>HOTSPOT IDENTIFICATION (2020 DATA) </vt:lpstr>
      <vt:lpstr>PowerPoint Presentation</vt:lpstr>
      <vt:lpstr>PowerPoint Presentation</vt:lpstr>
      <vt:lpstr>POPULATION VS. CRIME RATE </vt:lpstr>
      <vt:lpstr>PowerPoint Presentation</vt:lpstr>
      <vt:lpstr>RECOMMENDATION</vt:lpstr>
      <vt:lpstr>RECOMMENDATION II</vt:lpstr>
      <vt:lpstr>RECOMMENDATION III</vt:lpstr>
      <vt:lpstr>RECOMMENDATION IV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2026-03-31T16:32:36Z</dcterms:created>
  <dcterms:modified xsi:type="dcterms:W3CDTF">2026-03-31T17:13:46Z</dcterms:modified>
</cp:coreProperties>
</file>